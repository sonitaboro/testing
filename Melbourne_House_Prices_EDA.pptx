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37"/>
  </p:normalViewPr>
  <p:slideViewPr>
    <p:cSldViewPr snapToGrid="0" snapToObjects="1">
      <p:cViewPr>
        <p:scale>
          <a:sx n="117" d="100"/>
          <a:sy n="117" d="100"/>
        </p:scale>
        <p:origin x="1344" y="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Melbourne House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CCDD"/>
                </a:solidFill>
              </a:rPr>
              <a:t>Exploratory Data Analysis &amp; 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423160"/>
            <a:ext cx="12188952" cy="44348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A87"/>
                </a:solidFill>
              </a:rPr>
              <a:t>EDA Case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154680"/>
            <a:ext cx="8531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32278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55E"/>
                </a:solidFill>
              </a:rPr>
              <a:t>Dataset: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2278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4,766 records  ·  10 attributes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776472"/>
            <a:ext cx="8531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38496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55E"/>
                </a:solidFill>
              </a:rPr>
              <a:t>Domain: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849624"/>
            <a:ext cx="6492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22222"/>
                </a:solidFill>
              </a:rPr>
              <a:t>Residential property market</a:t>
            </a:r>
            <a:r>
              <a:rPr lang="en-US" sz="1300" b="0" dirty="0">
                <a:solidFill>
                  <a:srgbClr val="222222"/>
                </a:solidFill>
              </a:rPr>
              <a:t>, </a:t>
            </a:r>
            <a:r>
              <a:rPr sz="1300" b="0" dirty="0">
                <a:solidFill>
                  <a:srgbClr val="222222"/>
                </a:solidFill>
              </a:rPr>
              <a:t> Melbourne, Australia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398264"/>
            <a:ext cx="8531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4471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55E"/>
                </a:solidFill>
              </a:rPr>
              <a:t>Goal: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47141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Understand pricing drivers &amp; prepare modelling-ready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020055"/>
            <a:ext cx="8531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50932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55E"/>
                </a:solidFill>
              </a:rPr>
              <a:t>Output: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5093207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25-feature matrix  ·  Train / Test split  ·  Log-price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8899AA"/>
                </a:solidFill>
              </a:rPr>
              <a:t>Prepared by: </a:t>
            </a:r>
            <a:r>
              <a:rPr lang="en-US" sz="1100" dirty="0">
                <a:solidFill>
                  <a:srgbClr val="8899AA"/>
                </a:solidFill>
              </a:rPr>
              <a:t> Sonita Boro</a:t>
            </a:r>
            <a:endParaRPr sz="1100" b="0" dirty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What the data contains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03960" y="1384057"/>
            <a:ext cx="2032883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77112" y="1457209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4,766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7112" y="1932697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Total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9995" y="1384057"/>
            <a:ext cx="2032883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9995" y="1493785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571" y="1942371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BBCCDD"/>
                </a:solidFill>
              </a:rPr>
              <a:t>Attributes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4916" y="1392671"/>
            <a:ext cx="1720681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49527" y="1457209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9527" y="1932697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BBCCDD"/>
                </a:solidFill>
              </a:rPr>
              <a:t>Missing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8986" y="1395719"/>
            <a:ext cx="1928211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8709" y="1487954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8362" y="1956021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BBCCDD"/>
                </a:solidFill>
              </a:rPr>
              <a:t>Duplicates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9029" y="1392671"/>
            <a:ext cx="1928211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7197" y="1492289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7197" y="1967777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Property Types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2651760"/>
          <a:ext cx="1145743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Attribute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Rooms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dirty="0">
                          <a:solidFill>
                            <a:srgbClr val="222222"/>
                          </a:solidFill>
                        </a:rPr>
                        <a:t>Number of rooms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dirty="0">
                          <a:solidFill>
                            <a:srgbClr val="222222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h = house · u = unit · t = townhouse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Sale price in AUD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Selling method (S, SP, PI, VB, SA 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Regionname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Broad Melbourne region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Number of bathrooms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Car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Number of car spots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Landsize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Land size in square metres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Float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Distance from CBD (km)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9">
                <a:tc>
                  <a:txBody>
                    <a:bodyPr/>
                    <a:lstStyle/>
                    <a:p>
                      <a:pPr algn="ctr"/>
                      <a:r>
                        <a:rPr sz="1150" dirty="0">
                          <a:solidFill>
                            <a:srgbClr val="222222"/>
                          </a:solidFill>
                        </a:rPr>
                        <a:t>Bedroom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dirty="0">
                          <a:solidFill>
                            <a:srgbClr val="222222"/>
                          </a:solidFill>
                        </a:rPr>
                        <a:t>Number of bedrooms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Quality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902987"/>
              </p:ext>
            </p:extLst>
          </p:nvPr>
        </p:nvGraphicFramePr>
        <p:xfrm>
          <a:off x="365760" y="1234440"/>
          <a:ext cx="1145743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Quality Check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of Data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 Taken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Landsize = 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826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17.33 %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Flag + impute with median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Bedroom &gt;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30.15 %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dirty="0">
                          <a:solidFill>
                            <a:srgbClr val="222222"/>
                          </a:solidFill>
                        </a:rPr>
                        <a:t>Kept</a:t>
                      </a: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,</a:t>
                      </a:r>
                      <a:r>
                        <a:rPr sz="1150" dirty="0">
                          <a:solidFill>
                            <a:srgbClr val="222222"/>
                          </a:solidFill>
                        </a:rPr>
                        <a:t> different room definitions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Car = 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331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6.95 %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Retain (valid — no parking)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0.27 %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Flag + impute with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Bedroom = 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0.15 %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Flag + impute with median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 &gt;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4.83 %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dirty="0">
                          <a:solidFill>
                            <a:srgbClr val="222222"/>
                          </a:solidFill>
                        </a:rPr>
                        <a:t>Kept — open-plan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206240"/>
            <a:ext cx="11457432" cy="237744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427939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1122883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222222"/>
                </a:solidFill>
              </a:rPr>
              <a:t>• No missing values or duplicate rows</a:t>
            </a:r>
            <a:r>
              <a:rPr lang="en-US" sz="1250" b="0" dirty="0">
                <a:solidFill>
                  <a:srgbClr val="222222"/>
                </a:solidFill>
              </a:rPr>
              <a:t>, </a:t>
            </a:r>
            <a:r>
              <a:rPr sz="1250" b="0" dirty="0">
                <a:solidFill>
                  <a:srgbClr val="222222"/>
                </a:solidFill>
              </a:rPr>
              <a:t>clean raw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0348"/>
            <a:ext cx="11228832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• Zero values in Landsize, Bathroom, Bedroom are data-entry artefacts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50408"/>
            <a:ext cx="11228832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• Binary flags preserve the zero-occurrence signal for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0468"/>
            <a:ext cx="11228832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• Bedroom &gt; Rooms reflects coding difference between variables, not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Numeric Feature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5743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Rooms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3.08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620k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840k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1,019k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1,244k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6,240k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1.59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Landsize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370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449.7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640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75,100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Bedroom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2.94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617720"/>
            <a:ext cx="11457432" cy="201168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46908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Notable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01768"/>
            <a:ext cx="1122883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222222"/>
                </a:solidFill>
              </a:rPr>
              <a:t>• Price: median $840k vs mean $1.02M</a:t>
            </a:r>
            <a:r>
              <a:rPr lang="en-US" sz="1250" b="0" dirty="0">
                <a:solidFill>
                  <a:srgbClr val="222222"/>
                </a:solidFill>
              </a:rPr>
              <a:t>, </a:t>
            </a:r>
            <a:r>
              <a:rPr sz="1250" b="0" dirty="0">
                <a:solidFill>
                  <a:srgbClr val="222222"/>
                </a:solidFill>
              </a:rPr>
              <a:t> strong right skew (skewness = 2.51)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90388"/>
            <a:ext cx="1122883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222222"/>
                </a:solidFill>
              </a:rPr>
              <a:t>• Log(Price) skewness drops to 0.45</a:t>
            </a:r>
            <a:r>
              <a:rPr lang="en-US" sz="1250" b="0" dirty="0">
                <a:solidFill>
                  <a:srgbClr val="222222"/>
                </a:solidFill>
              </a:rPr>
              <a:t>,</a:t>
            </a:r>
            <a:r>
              <a:rPr sz="1250" b="0" dirty="0">
                <a:solidFill>
                  <a:srgbClr val="222222"/>
                </a:solidFill>
              </a:rPr>
              <a:t> log transformation recommended for modelling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79007"/>
            <a:ext cx="1122883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222222"/>
                </a:solidFill>
              </a:rPr>
              <a:t>• </a:t>
            </a:r>
            <a:r>
              <a:rPr sz="1250" b="0" dirty="0" err="1">
                <a:solidFill>
                  <a:srgbClr val="222222"/>
                </a:solidFill>
              </a:rPr>
              <a:t>Landsize</a:t>
            </a:r>
            <a:r>
              <a:rPr sz="1250" b="0" dirty="0">
                <a:solidFill>
                  <a:srgbClr val="222222"/>
                </a:solidFill>
              </a:rPr>
              <a:t> max = 75,100 m²</a:t>
            </a:r>
            <a:r>
              <a:rPr lang="en-US" sz="1250" b="0" dirty="0">
                <a:solidFill>
                  <a:srgbClr val="222222"/>
                </a:solidFill>
              </a:rPr>
              <a:t>, </a:t>
            </a:r>
            <a:r>
              <a:rPr sz="1250" b="0" dirty="0">
                <a:solidFill>
                  <a:srgbClr val="222222"/>
                </a:solidFill>
              </a:rPr>
              <a:t> extreme outliers need clipping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67627"/>
            <a:ext cx="11228832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• Distance is relatively tight: 75% of properties within 22 km of CBD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Target Variable: Price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_8_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574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Categorical Feature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_10_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57432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34340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4416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Property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2744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h (house): 70.35 %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218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u (unit): 19.30 %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161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t (townhouse): 10.34 %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34340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4416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Selling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727448"/>
            <a:ext cx="3429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S (sold): 64.9 %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173218"/>
            <a:ext cx="3429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SP (sold prior): 14.0 %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618988"/>
            <a:ext cx="3429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PI (passed in): 9.7 %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064757"/>
            <a:ext cx="3429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VB / SA: ~11 %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34340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4416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Top 3 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72744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Southern Metro: 27.55 %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53218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Northern Metro: 27.49 %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9161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• Western Metro: 19.89 %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Price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Region and property type are the strongest pricing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_12_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303520" cy="2926080"/>
          </a:xfrm>
          <a:prstGeom prst="rect">
            <a:avLst/>
          </a:prstGeom>
        </p:spPr>
      </p:pic>
      <p:pic>
        <p:nvPicPr>
          <p:cNvPr id="7" name="Picture 6" descr="cell_12_outpu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234440"/>
            <a:ext cx="6035040" cy="29260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315968"/>
          <a:ext cx="114574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Median Price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Insight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House (h)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$940,000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Highest median — detached land premium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Townhouse (t)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$840,000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Mid-range — shared boundary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Unit (u)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$606,750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Most affordable — no land component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Southern Metropolitan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$1,250,000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Most expensive region by far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Western Victoria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$400,000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Most affordable regional market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Correlations &amp; Feature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_14_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57432" cy="3246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617720"/>
          <a:ext cx="11457432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9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Corr w/ Price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Corr w/ Log(Price)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Rooms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+0.403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+0.449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Strongest numeric predictor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Moderate — collinear with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Bedroom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+0.216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+0.260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Weaker due to 0-value noise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Parking adds modest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Landsize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+0.068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+0.073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Weak — distorted by extremes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99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-0.138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-0.167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Negative — closer to CBD = higher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Outlier Analysis (IQR Method)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_16_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57432" cy="3063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434840"/>
          <a:ext cx="11457432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12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IQR Lower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IQR Upper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Outlier Count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Outlier %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Treatment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$-241,375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$2,105,625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253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5.31 %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Clip at P1 / P99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Landsize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-637.5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1,432.5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1.91 %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Clip at P1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Car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-2.5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5.5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206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4.32 %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Clip at P1 / P99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-0.5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0.63 %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Clip at P1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Bedroom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-1.0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7.0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0.71 %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Clip at P1 / P99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12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4.65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35.35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0.00 %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No action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Preparation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298448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3716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dirty="0">
                <a:solidFill>
                  <a:srgbClr val="1A355E"/>
                </a:solidFill>
              </a:rPr>
              <a:t>Ze</a:t>
            </a:r>
            <a:r>
              <a:rPr lang="en-US" sz="1250" b="1" dirty="0">
                <a:solidFill>
                  <a:srgbClr val="1A355E"/>
                </a:solidFill>
              </a:rPr>
              <a:t>ro → </a:t>
            </a:r>
            <a:r>
              <a:rPr sz="1250" b="1" dirty="0">
                <a:solidFill>
                  <a:srgbClr val="1A355E"/>
                </a:solidFill>
              </a:rPr>
              <a:t>Missing: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Bathroom, Bedroom, Landsize zeros converted to NaN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92807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892807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19659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Binary Flags: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6596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3 indicator columns added: *_was_zero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87168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487168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2560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Median Imputation: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603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Missing values filled with column median (non-zero)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81527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15467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081527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15467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Percentile Clipping: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54679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All numeric features clipped at 1st – 99th percentile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75887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3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675887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37490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Robust Scaling: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749039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RobustScaler applied (IQR-based, outlier-resistant)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70248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3434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4270248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43434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One-Hot Encoding: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34340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Type, Method, Regionname encoded via DictVectorizer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64608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9377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4864608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8992" y="49377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Log Target: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93776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LogPrice = log1p(Price) created as modelling target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58968"/>
            <a:ext cx="502920" cy="5303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55321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5458968"/>
            <a:ext cx="108630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8992" y="55321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Train/Test Split: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5321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80 / 20 split with random_state=42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Prepared Feature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377440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490472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4,766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6596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Feature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417320"/>
            <a:ext cx="2377440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490472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96596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Feature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417320"/>
            <a:ext cx="2377440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59552" y="1490472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3,812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196596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Train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2377440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2" y="1490472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954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196596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Test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1417320"/>
            <a:ext cx="1216152" cy="100584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80192" y="1490472"/>
            <a:ext cx="10698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1965960"/>
            <a:ext cx="1069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Target Variants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33472"/>
          <a:ext cx="11457432" cy="284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 Group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Features Included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Numeric (scaled)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Rooms, Bathroom, Car, Landsize, Distance, Bedroom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Indicator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Bathroom_was_zero, Bedroom_was_zero, Landsize_was_zero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Property Type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Type=h, Type=u, Type=t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Selling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Method=PI, Method=S, Method=SA, Method=SP, Method=VB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8 region dummy columns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2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Target (excluded)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Price (raw) · LogPrice (log1p transformed)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365760" y="5532120"/>
            <a:ext cx="11457432" cy="105156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56052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Output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16168"/>
            <a:ext cx="112288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• melbourne_prepared_for_modeling.csv — 4,766 rows, 27 columns (25 features + Price + LogPrice)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109728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Price is right-skewed: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29844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Median $840k vs mean $1.02M. Use Log(Price) as the modelling target.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09728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Region drives price: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8308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Southern Metro median $1.25M vs Western Victoria $400k — 3× difference.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109728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Type matters: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6771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Houses command a $333k premium over units (median).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52344"/>
            <a:ext cx="109728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523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Rooms is top numeric signal: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5234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Pearson r = 0.45 with Log(Price). Median rises with every extra room.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36976"/>
            <a:ext cx="109728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Landsize needs care: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3697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17% zero values + extreme outliers. Clipping + flag strategy applied.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21608"/>
            <a:ext cx="109728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7216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355E"/>
                </a:solidFill>
              </a:rPr>
              <a:t>Bedroom ≠ Rooms: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72160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</a:rPr>
              <a:t>30% of records have Bedroom &gt; Rooms — treat independently.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1145743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7091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5E"/>
                </a:solidFill>
              </a:rPr>
              <a:t>Recommended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74920"/>
            <a:ext cx="3657600" cy="150876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BCCDD"/>
                </a:solidFill>
              </a:rPr>
              <a:t>Strong baseline. Interpret coefficients for pricing factors.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074920"/>
            <a:ext cx="3657600" cy="150876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Random Forest Regressor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577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BCCDD"/>
                </a:solidFill>
              </a:rPr>
              <a:t>Handles non-linearity and interactions. Good benchmark.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074920"/>
            <a:ext cx="3657600" cy="1508760"/>
          </a:xfrm>
          <a:prstGeom prst="rect">
            <a:avLst/>
          </a:prstGeom>
          <a:solidFill>
            <a:srgbClr val="1A355E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8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Gradient Boosting (XGB)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577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BCCDD"/>
                </a:solidFill>
              </a:rPr>
              <a:t>Usually best accuracy; train on LogPrice, exponentiate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1122</Words>
  <Application>Microsoft Macintosh PowerPoint</Application>
  <PresentationFormat>Custom</PresentationFormat>
  <Paragraphs>339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Wajid Manzoor</cp:lastModifiedBy>
  <cp:revision>2</cp:revision>
  <dcterms:created xsi:type="dcterms:W3CDTF">2013-01-27T09:14:16Z</dcterms:created>
  <dcterms:modified xsi:type="dcterms:W3CDTF">2026-06-25T17:24:57Z</dcterms:modified>
  <cp:category/>
</cp:coreProperties>
</file>